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56" r:id="rId2"/>
    <p:sldId id="258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747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048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7336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347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8/9/2026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030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8/9/2026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641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8/9/2026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989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777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877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560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14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36819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04" r:id="rId6"/>
    <p:sldLayoutId id="2147483700" r:id="rId7"/>
    <p:sldLayoutId id="2147483701" r:id="rId8"/>
    <p:sldLayoutId id="2147483702" r:id="rId9"/>
    <p:sldLayoutId id="2147483703" r:id="rId10"/>
    <p:sldLayoutId id="214748370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983080A-6551-4451-BD82-99B048897B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1D9A51-D930-A331-6FA7-A39E7FA345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5126" y="1311768"/>
            <a:ext cx="10208829" cy="3066469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BUSINESS INTELLIGENCE AND    OPERATIONAL ANALYTICS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A5C8BF2-C035-4BFF-8802-A39723834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2570" y="6272784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5878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EE0F6-7C56-0A39-B492-CE46263B4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E88B2-3282-ECF9-1B60-CB8A0A72C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br>
              <a:rPr lang="en-US" sz="1400" dirty="0"/>
            </a:br>
            <a:br>
              <a:rPr lang="en-US" sz="1400" dirty="0"/>
            </a:b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995B118-3601-7D80-DC8E-598BCDF8D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831" y="808355"/>
            <a:ext cx="10890928" cy="342246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br>
              <a:rPr lang="en-US" dirty="0"/>
            </a:br>
            <a:r>
              <a:rPr lang="en-US" u="sng" dirty="0"/>
              <a:t>Objective</a:t>
            </a:r>
            <a:br>
              <a:rPr lang="en-US" dirty="0"/>
            </a:br>
            <a:r>
              <a:rPr lang="en-US" dirty="0"/>
              <a:t>Analyze credit and loan application data to monitor business KPIs, identify performance trends, investigate areas of elevated default risk, and support data-driven decision-making.</a:t>
            </a:r>
            <a:br>
              <a:rPr lang="en-US" dirty="0"/>
            </a:br>
            <a:r>
              <a:rPr lang="en-US" u="sng" dirty="0"/>
              <a:t>Executive Takeaway</a:t>
            </a:r>
            <a:br>
              <a:rPr lang="en-US" dirty="0"/>
            </a:br>
            <a:r>
              <a:rPr lang="en-US" dirty="0"/>
              <a:t>The analysis provides a consolidated view of portfolio and application performance, enabling management to monitor KPIs and identify segments requiring further investigation.</a:t>
            </a:r>
            <a:br>
              <a:rPr lang="en-US" dirty="0"/>
            </a:br>
            <a:br>
              <a:rPr lang="en-US" dirty="0"/>
            </a:br>
            <a:r>
              <a:rPr lang="en-US" u="sng" dirty="0"/>
              <a:t>Key Performance Indicators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D7EB542-D72D-A92F-F4DE-92060888A8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199155"/>
              </p:ext>
            </p:extLst>
          </p:nvPr>
        </p:nvGraphicFramePr>
        <p:xfrm>
          <a:off x="640079" y="4048432"/>
          <a:ext cx="10561322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0661">
                  <a:extLst>
                    <a:ext uri="{9D8B030D-6E8A-4147-A177-3AD203B41FA5}">
                      <a16:colId xmlns:a16="http://schemas.microsoft.com/office/drawing/2014/main" val="3431279084"/>
                    </a:ext>
                  </a:extLst>
                </a:gridCol>
                <a:gridCol w="5280661">
                  <a:extLst>
                    <a:ext uri="{9D8B030D-6E8A-4147-A177-3AD203B41FA5}">
                      <a16:colId xmlns:a16="http://schemas.microsoft.com/office/drawing/2014/main" val="3070421249"/>
                    </a:ext>
                  </a:extLst>
                </a:gridCol>
              </a:tblGrid>
              <a:tr h="276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KPI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Value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7941915"/>
                  </a:ext>
                </a:extLst>
              </a:tr>
              <a:tr h="276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Total Loan Portfolio</a:t>
                      </a:r>
                      <a:endParaRPr lang="en-US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/>
                        <a:t>$86M</a:t>
                      </a:r>
                      <a:endParaRPr lang="en-US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6864148"/>
                  </a:ext>
                </a:extLst>
              </a:tr>
              <a:tr h="276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Total Applications</a:t>
                      </a:r>
                      <a:endParaRPr lang="en-US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/>
                        <a:t>5,025</a:t>
                      </a:r>
                      <a:endParaRPr lang="en-US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3234060"/>
                  </a:ext>
                </a:extLst>
              </a:tr>
              <a:tr h="276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Overall Default Rate</a:t>
                      </a:r>
                      <a:endParaRPr lang="en-US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 dirty="0"/>
                        <a:t>6.45%</a:t>
                      </a:r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3643691"/>
                  </a:ext>
                </a:extLst>
              </a:tr>
              <a:tr h="276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Financial Exposure at Risk</a:t>
                      </a:r>
                      <a:endParaRPr lang="en-US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 dirty="0"/>
                        <a:t>$5.56M</a:t>
                      </a:r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2840328"/>
                  </a:ext>
                </a:extLst>
              </a:tr>
              <a:tr h="276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Average FICO Score</a:t>
                      </a:r>
                      <a:endParaRPr lang="en-US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/>
                        <a:t>680</a:t>
                      </a:r>
                      <a:endParaRPr lang="en-US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4580494"/>
                  </a:ext>
                </a:extLst>
              </a:tr>
              <a:tr h="276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Average DTI</a:t>
                      </a:r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 dirty="0"/>
                        <a:t>17</a:t>
                      </a:r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7520396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E2C466B2-029D-2F8D-9537-40BE2A05396D}"/>
              </a:ext>
            </a:extLst>
          </p:cNvPr>
          <p:cNvSpPr txBox="1"/>
          <p:nvPr/>
        </p:nvSpPr>
        <p:spPr>
          <a:xfrm>
            <a:off x="640079" y="285135"/>
            <a:ext cx="10745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 Executive Summary | Credit Risk &amp; Operational Performance</a:t>
            </a:r>
          </a:p>
        </p:txBody>
      </p:sp>
    </p:spTree>
    <p:extLst>
      <p:ext uri="{BB962C8B-B14F-4D97-AF65-F5344CB8AC3E}">
        <p14:creationId xmlns:p14="http://schemas.microsoft.com/office/powerpoint/2010/main" val="268923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C5679-EA31-0AE2-4B1D-BE91A3565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CE42A21-1C63-6EE6-350C-4970EE7E6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219461"/>
            <a:ext cx="10890929" cy="753933"/>
          </a:xfrm>
        </p:spPr>
        <p:txBody>
          <a:bodyPr/>
          <a:lstStyle/>
          <a:p>
            <a:r>
              <a:rPr lang="en-US" dirty="0"/>
              <a:t>			KPI &amp; Trend Analysis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E4A5163-A4EC-5F73-4758-D0795FC08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535" y="1192844"/>
            <a:ext cx="10890928" cy="3084187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Performance &amp; Trend Analysis</a:t>
            </a:r>
          </a:p>
          <a:p>
            <a:pPr marL="0" indent="0">
              <a:buNone/>
            </a:pPr>
            <a:r>
              <a:rPr lang="en-US" b="1" u="sng" dirty="0"/>
              <a:t>Key Areas Monitored</a:t>
            </a:r>
            <a:endParaRPr lang="en-US" u="sng" dirty="0"/>
          </a:p>
          <a:p>
            <a:r>
              <a:rPr lang="en-US" b="1" dirty="0"/>
              <a:t>Portfolio Exposure:</a:t>
            </a:r>
            <a:r>
              <a:rPr lang="en-US" dirty="0"/>
              <a:t> Total loan portfolio reached </a:t>
            </a:r>
            <a:r>
              <a:rPr lang="en-US" b="1" dirty="0"/>
              <a:t>$86M</a:t>
            </a:r>
            <a:r>
              <a:rPr lang="en-US" dirty="0"/>
              <a:t>, with cumulative exposure increasing over the analyzed period. </a:t>
            </a:r>
          </a:p>
          <a:p>
            <a:r>
              <a:rPr lang="en-US" b="1" dirty="0"/>
              <a:t>Default Performance:</a:t>
            </a:r>
            <a:r>
              <a:rPr lang="en-US" dirty="0"/>
              <a:t> Overall default rate stands at </a:t>
            </a:r>
            <a:r>
              <a:rPr lang="en-US" b="1" dirty="0"/>
              <a:t>6.45%</a:t>
            </a:r>
            <a:r>
              <a:rPr lang="en-US" dirty="0"/>
              <a:t>. </a:t>
            </a:r>
          </a:p>
          <a:p>
            <a:r>
              <a:rPr lang="en-US" b="1" dirty="0"/>
              <a:t>Application Activity:</a:t>
            </a:r>
            <a:r>
              <a:rPr lang="en-US" dirty="0"/>
              <a:t> </a:t>
            </a:r>
            <a:r>
              <a:rPr lang="en-US" b="1" dirty="0"/>
              <a:t>5,025 applications</a:t>
            </a:r>
            <a:r>
              <a:rPr lang="en-US" dirty="0"/>
              <a:t> were analyzed across multiple loan-purpose categories. </a:t>
            </a:r>
          </a:p>
          <a:p>
            <a:r>
              <a:rPr lang="en-US" b="1" dirty="0"/>
              <a:t>Monthly Trends:</a:t>
            </a:r>
            <a:r>
              <a:rPr lang="en-US" dirty="0"/>
              <a:t> Default rates varied across months, highlighting periods requiring closer performance monitoring. </a:t>
            </a:r>
          </a:p>
          <a:p>
            <a:r>
              <a:rPr lang="en-US" b="1" dirty="0"/>
              <a:t>Segment Performance:</a:t>
            </a:r>
            <a:r>
              <a:rPr lang="en-US" dirty="0"/>
              <a:t> Default-rate differences were observed across loan-purpose categories. </a:t>
            </a:r>
          </a:p>
          <a:p>
            <a:pPr marL="0" indent="0">
              <a:buNone/>
            </a:pPr>
            <a:r>
              <a:rPr lang="en-US" b="1" u="sng" dirty="0"/>
              <a:t>Key Insight</a:t>
            </a:r>
          </a:p>
          <a:p>
            <a:r>
              <a:rPr lang="en-US" dirty="0"/>
              <a:t>Monitoring KPI movement over time and across business segments helps identify performance deviations and prioritize areas for further operational investigation.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71CB3E5-FA25-143A-FE41-D24C92B62B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21" t="4363" r="1950" b="3877"/>
          <a:stretch>
            <a:fillRect/>
          </a:stretch>
        </p:blipFill>
        <p:spPr>
          <a:xfrm>
            <a:off x="356485" y="3942735"/>
            <a:ext cx="4393716" cy="23990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5A663C7-831D-8CF5-99F5-5B2D7BA8C1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3" t="4363" r="2493" b="3877"/>
          <a:stretch>
            <a:fillRect/>
          </a:stretch>
        </p:blipFill>
        <p:spPr>
          <a:xfrm>
            <a:off x="4849909" y="3942735"/>
            <a:ext cx="2819251" cy="23990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04DAB24-5E6F-85FF-082E-0AAFC6CED60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33" t="917" r="1938" b="3876"/>
          <a:stretch>
            <a:fillRect/>
          </a:stretch>
        </p:blipFill>
        <p:spPr>
          <a:xfrm>
            <a:off x="7787148" y="3942736"/>
            <a:ext cx="4048365" cy="2399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025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AEB90-CE42-9531-9537-B2BB7D758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29259DE-6984-6FFC-C236-1775811A0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219461"/>
            <a:ext cx="10890929" cy="753933"/>
          </a:xfrm>
        </p:spPr>
        <p:txBody>
          <a:bodyPr/>
          <a:lstStyle/>
          <a:p>
            <a:pPr algn="ctr"/>
            <a:r>
              <a:rPr lang="en-US" dirty="0"/>
              <a:t>     Root Cause Analysis &amp; Key Findings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9FE4C34-3122-C191-C576-0AA29954E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535" y="1192844"/>
            <a:ext cx="6389362" cy="519812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u="sng" dirty="0"/>
              <a:t>Root Cause Analysis (RCA)</a:t>
            </a:r>
          </a:p>
          <a:p>
            <a:pPr marL="0" indent="0">
              <a:buNone/>
            </a:pPr>
            <a:r>
              <a:rPr lang="en-US" b="1" u="sng" dirty="0"/>
              <a:t>RCA Approach</a:t>
            </a:r>
            <a:endParaRPr lang="en-US" u="sng" dirty="0"/>
          </a:p>
          <a:p>
            <a:r>
              <a:rPr lang="en-US" dirty="0"/>
              <a:t>The overall default rate was first identified as a key performance indicator. The KPI was then drilled down by </a:t>
            </a:r>
            <a:r>
              <a:rPr lang="en-US" b="1" dirty="0"/>
              <a:t>loan purpose</a:t>
            </a:r>
            <a:r>
              <a:rPr lang="en-US" dirty="0"/>
              <a:t> to identify segments with relatively higher default rates and determine where performance required further investigation.</a:t>
            </a:r>
          </a:p>
          <a:p>
            <a:pPr marL="0" indent="0">
              <a:buNone/>
            </a:pPr>
            <a:r>
              <a:rPr lang="en-US" b="1" u="sng" dirty="0"/>
              <a:t>Key Findings</a:t>
            </a:r>
          </a:p>
          <a:p>
            <a:r>
              <a:rPr lang="en-US" dirty="0"/>
              <a:t>Credit Card Refinancing showed the highest default rate (~8.2%), making it a priority segment for further investigation.</a:t>
            </a:r>
          </a:p>
          <a:p>
            <a:r>
              <a:rPr lang="en-US" b="1" dirty="0"/>
              <a:t>Home Improvement</a:t>
            </a:r>
            <a:r>
              <a:rPr lang="en-US" dirty="0"/>
              <a:t> recorded the lowest default rate at approximately </a:t>
            </a:r>
            <a:r>
              <a:rPr lang="en-US" b="1" dirty="0"/>
              <a:t>4.9%</a:t>
            </a:r>
            <a:r>
              <a:rPr lang="en-US" dirty="0"/>
              <a:t>. </a:t>
            </a:r>
          </a:p>
          <a:p>
            <a:r>
              <a:rPr lang="en-US" dirty="0"/>
              <a:t>Default rates varied across loan-purpose segments, indicating differences in portfolio risk. </a:t>
            </a:r>
          </a:p>
          <a:p>
            <a:r>
              <a:rPr lang="en-US" dirty="0"/>
              <a:t>Higher-default segments were identified as </a:t>
            </a:r>
            <a:r>
              <a:rPr lang="en-US" b="1" dirty="0"/>
              <a:t>priority areas for further operational investigation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b="1" u="sng" dirty="0"/>
              <a:t>RCA Outcome</a:t>
            </a:r>
          </a:p>
          <a:p>
            <a:r>
              <a:rPr lang="en-US" dirty="0"/>
              <a:t>The analysis helped identify </a:t>
            </a:r>
            <a:r>
              <a:rPr lang="en-US" b="1" dirty="0"/>
              <a:t>where the performance issue was concentrated</a:t>
            </a:r>
            <a:r>
              <a:rPr lang="en-US" dirty="0"/>
              <a:t>, providing a basis for targeted monitoring and further investigation rather than assuming a direct causal relationship.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5CE046-E20E-15FD-8A52-DD32FE71AE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58" t="1984" r="2383" b="2565"/>
          <a:stretch>
            <a:fillRect/>
          </a:stretch>
        </p:blipFill>
        <p:spPr>
          <a:xfrm>
            <a:off x="7452852" y="2202425"/>
            <a:ext cx="4336025" cy="3293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277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DFA89-E581-4870-9A16-7C0322DBF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D250594-8619-640D-1FBB-32BA268D3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219461"/>
            <a:ext cx="10890929" cy="753933"/>
          </a:xfrm>
        </p:spPr>
        <p:txBody>
          <a:bodyPr/>
          <a:lstStyle/>
          <a:p>
            <a:pPr algn="ctr"/>
            <a:r>
              <a:rPr lang="en-US" dirty="0"/>
              <a:t>Recommendations &amp; Conclusion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2DDC4F7-69B5-5EEF-F604-C8FE29649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535" y="1192844"/>
            <a:ext cx="10890928" cy="518829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u="sng" dirty="0"/>
              <a:t>Business Recommendations</a:t>
            </a:r>
          </a:p>
          <a:p>
            <a:pPr marL="0" indent="0">
              <a:buNone/>
            </a:pPr>
            <a:r>
              <a:rPr lang="en-US" b="1" dirty="0"/>
              <a:t>1. Prioritize High-Risk Segments</a:t>
            </a:r>
            <a:br>
              <a:rPr lang="en-US" dirty="0"/>
            </a:br>
            <a:r>
              <a:rPr lang="en-US" dirty="0"/>
              <a:t>Focus further investigation on loan-purpose segments with default rates above the overall portfolio benchmark.</a:t>
            </a:r>
          </a:p>
          <a:p>
            <a:pPr marL="0" indent="0">
              <a:buNone/>
            </a:pPr>
            <a:r>
              <a:rPr lang="en-US" b="1" dirty="0"/>
              <a:t>2. Monitor KPI Trends</a:t>
            </a:r>
            <a:br>
              <a:rPr lang="en-US" dirty="0"/>
            </a:br>
            <a:r>
              <a:rPr lang="en-US" dirty="0"/>
              <a:t>Track monthly default-rate movements to identify performance deviations early.</a:t>
            </a:r>
          </a:p>
          <a:p>
            <a:pPr marL="0" indent="0">
              <a:buNone/>
            </a:pPr>
            <a:r>
              <a:rPr lang="en-US" b="1" dirty="0"/>
              <a:t>3. Strengthen Segment-Level Monitoring</a:t>
            </a:r>
            <a:br>
              <a:rPr lang="en-US" dirty="0"/>
            </a:br>
            <a:r>
              <a:rPr lang="en-US" dirty="0"/>
              <a:t>Use loan-purpose and borrower-risk segmentation to identify areas requiring closer review.</a:t>
            </a:r>
          </a:p>
          <a:p>
            <a:pPr marL="0" indent="0">
              <a:buNone/>
            </a:pPr>
            <a:r>
              <a:rPr lang="en-US" b="1" dirty="0"/>
              <a:t>4. Support Data-Driven Decisions</a:t>
            </a:r>
            <a:br>
              <a:rPr lang="en-US" dirty="0"/>
            </a:br>
            <a:r>
              <a:rPr lang="en-US" dirty="0"/>
              <a:t>Use KPI dashboards and RCA findings to prioritize operational actions and monitor subsequent performance.</a:t>
            </a:r>
          </a:p>
          <a:p>
            <a:pPr marL="0" indent="0">
              <a:buNone/>
            </a:pPr>
            <a:r>
              <a:rPr lang="en-US" b="1" u="sng" dirty="0"/>
              <a:t>Conclusion</a:t>
            </a:r>
          </a:p>
          <a:p>
            <a:pPr marL="0" indent="0">
              <a:buNone/>
            </a:pPr>
            <a:r>
              <a:rPr lang="en-US" dirty="0"/>
              <a:t>The solution converts operational data into actionable KPI insights, trend analysis and RCA findings to support business decision-making.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03185393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Words>456</Words>
  <Application>Microsoft Office PowerPoint</Application>
  <PresentationFormat>Widescreen</PresentationFormat>
  <Paragraphs>47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Grandview Display</vt:lpstr>
      <vt:lpstr>DashVTI</vt:lpstr>
      <vt:lpstr>BUSINESS INTELLIGENCE AND    OPERATIONAL ANALYTICS</vt:lpstr>
      <vt:lpstr>  </vt:lpstr>
      <vt:lpstr>   KPI &amp; Trend Analysis</vt:lpstr>
      <vt:lpstr>     Root Cause Analysis &amp; Key Findings</vt:lpstr>
      <vt:lpstr>Recommendations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123cr0819 (SONAKSHI KUMAR)</dc:creator>
  <cp:lastModifiedBy>123cr0819 (SONAKSHI KUMAR)</cp:lastModifiedBy>
  <cp:revision>2</cp:revision>
  <dcterms:created xsi:type="dcterms:W3CDTF">2026-08-09T16:38:25Z</dcterms:created>
  <dcterms:modified xsi:type="dcterms:W3CDTF">2026-08-09T17:12:18Z</dcterms:modified>
</cp:coreProperties>
</file>